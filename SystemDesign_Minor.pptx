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Caveat"/>
      <p:regular r:id="rId28"/>
      <p:bold r:id="rId29"/>
    </p:embeddedFont>
    <p:embeddedFont>
      <p:font typeface="Poppins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AD3D31-8779-4D3E-B636-6B8D8E42C07B}">
  <a:tblStyle styleId="{0DAD3D31-8779-4D3E-B636-6B8D8E42C0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Cavea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ave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4232b954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94232b954_0_3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4232b9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994232b95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94232b95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994232b95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94232b95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994232b954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10" Type="http://schemas.openxmlformats.org/officeDocument/2006/relationships/image" Target="../media/image44.png"/><Relationship Id="rId9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Relationship Id="rId11" Type="http://schemas.openxmlformats.org/officeDocument/2006/relationships/image" Target="../media/image43.png"/><Relationship Id="rId10" Type="http://schemas.openxmlformats.org/officeDocument/2006/relationships/image" Target="../media/image9.png"/><Relationship Id="rId9" Type="http://schemas.openxmlformats.org/officeDocument/2006/relationships/image" Target="../media/image40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Relationship Id="rId8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569175" y="1227550"/>
            <a:ext cx="49881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Cloud-Based Disaster Recovery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109575" y="4215525"/>
            <a:ext cx="590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 Automated System for Resilient Infrastructure (CDRAS)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" y="8"/>
            <a:ext cx="59910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695475" y="5778000"/>
            <a:ext cx="1861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Presented by:</a:t>
            </a:r>
            <a:endParaRPr sz="2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Perineni Lakshith</a:t>
            </a:r>
            <a:endParaRPr sz="2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9387"/>
            <a:ext cx="5286375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19387"/>
            <a:ext cx="528637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109912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757612"/>
            <a:ext cx="45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System downtime is costly. Manual recovery is slow, error-prone, and inefficient, leading to significant business disruption.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109912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Solution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757612"/>
            <a:ext cx="45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 automated system to detect failures, manage backups, and orchestrate recovery instantly, ensuring compliance and business continuity.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Problem &amp; Motivation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15"/>
          <p:cNvGraphicFramePr/>
          <p:nvPr/>
        </p:nvGraphicFramePr>
        <p:xfrm>
          <a:off x="571500" y="2371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{0DAD3D31-8779-4D3E-B636-6B8D8E42C07B}</a:tableStyleId>
              </a:tblPr>
              <a:tblGrid>
                <a:gridCol w="4145600"/>
                <a:gridCol w="2313375"/>
                <a:gridCol w="4590000"/>
              </a:tblGrid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Stakeholder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Priority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Key Interests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Administrator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Reliability, automation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717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 recovery, compliance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 Developer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ACC1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Continuous uptime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Compliance Officer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ADE8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Legal and audit logs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15"/>
          <p:cNvSpPr/>
          <p:nvPr/>
        </p:nvSpPr>
        <p:spPr>
          <a:xfrm>
            <a:off x="571500" y="2995612"/>
            <a:ext cx="4145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717107" y="2995612"/>
            <a:ext cx="231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7030491" y="2995612"/>
            <a:ext cx="4590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71500" y="3605212"/>
            <a:ext cx="4145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717107" y="3605212"/>
            <a:ext cx="231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030491" y="3605212"/>
            <a:ext cx="4590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71500" y="4214812"/>
            <a:ext cx="4145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717107" y="4214812"/>
            <a:ext cx="231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7030491" y="4214812"/>
            <a:ext cx="4590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824412"/>
            <a:ext cx="4145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717107" y="4824412"/>
            <a:ext cx="231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030491" y="4824412"/>
            <a:ext cx="4590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Stakeholders &amp;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9812"/>
            <a:ext cx="52863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09812"/>
            <a:ext cx="52863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62025" y="270033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Functional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24650" y="2700337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Non-Functional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00150" y="3348037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Real-time failure monitoring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200150" y="3700462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Cloud-based data backup &amp; replication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00150" y="4052887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Automated recovery workflows (runbooks)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200150" y="4405312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Automatic failover to secondary region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200150" y="4757737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Admin notifications &amp; audit logs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962775" y="3348037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Availability: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99.99% uptime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62775" y="3700462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Durability: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11 9's for backups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62775" y="4052887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Latency: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&lt; 200 ms monitoring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62775" y="4405312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End-to-end encryption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962775" y="4757737"/>
            <a:ext cx="426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Scalability: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Scales with monitored systems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334803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62025" y="37004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62025" y="405288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62025" y="44053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2025" y="475773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724650" y="334803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724650" y="37004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724650" y="405288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724650" y="44053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724650" y="475773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Core Requirements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3119437" y="2476500"/>
            <a:ext cx="59531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595687" y="261937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Connectivity: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Internet connectivity is required for all cloud operations.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3119437" y="2476500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119437" y="3190875"/>
            <a:ext cx="59531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595687" y="33337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Infrastructure: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Solution is constrained to AWS or Azure environments.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3119437" y="3190875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119437" y="3905250"/>
            <a:ext cx="59531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3595687" y="4048125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Regions: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Recovery regions must be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pre configured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before deployment.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3119437" y="3905250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119437" y="4619625"/>
            <a:ext cx="59531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3595687" y="47625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Backups: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Backup size is limited to ≤ 5 TB for initial free-tier testing.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119437" y="4619625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3262312" y="2747962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3262312" y="3462337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3262312" y="4176712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262312" y="4891087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Constraints &amp; Assumptions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71500" y="19526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CDRAS sits between the Administrator and the physical Cloud Regions, orchestrating Monitoring, Automation, and Notifications.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57250" y="3000375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Admin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interfaces via the Web Dashboard.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57250" y="3400425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Monitoring Service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checks Primary Cloud Region health.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57250" y="3800475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Automation Engine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manages failover to the Secondary Region.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30003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34004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38004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System Context Diagram</a:t>
            </a:r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5513" y="242888"/>
            <a:ext cx="5943600" cy="63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7123"/>
            <a:ext cx="5286375" cy="2876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7123"/>
            <a:ext cx="5286375" cy="287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962025" y="2857648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Key Use Cases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724650" y="2857648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User Stories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00150" y="3448198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Monitor Systems 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(System Monitor)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200150" y="3787229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Trigger Backup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(Admin, System)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200150" y="4126259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Failover Recovery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(Automation Engine)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200150" y="4465290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Notify Admin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(Notification System)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962775" y="3448198"/>
            <a:ext cx="4267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Admin : "I want to receive alerts if a primary server goes down so I can verify the failover."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877050" y="4062425"/>
            <a:ext cx="466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Developer : "I want to test recovery drills automatically every week."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962775" y="4613820"/>
            <a:ext cx="426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Auditor : "I want to see logs of every recovery action."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62025" y="3448198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62025" y="3787229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62025" y="4126259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62025" y="446529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724650" y="3448198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724650" y="4031009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724650" y="4613820"/>
            <a:ext cx="15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Use Cases &amp; User Stories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2838450" y="1762125"/>
            <a:ext cx="65151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314700" y="1905000"/>
            <a:ext cx="58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System Monitor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detects outage and alerts CDRAS API.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2838450" y="2476500"/>
            <a:ext cx="65151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838450" y="1762125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3314700" y="2619375"/>
            <a:ext cx="58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CDRAS API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triggers the 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Automation Engin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 recovery script.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2838450" y="3190875"/>
            <a:ext cx="65151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838450" y="2476500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314700" y="3333750"/>
            <a:ext cx="58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Automation Engine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instructs 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Cloud Provider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to spin up backup instance.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2838450" y="3905250"/>
            <a:ext cx="65151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838450" y="3190875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314700" y="4048125"/>
            <a:ext cx="58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Cloud Provider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updates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DNS Service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for traffic rerouting.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2838450" y="4619625"/>
            <a:ext cx="65151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838450" y="3905250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3329132" y="4762500"/>
            <a:ext cx="58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Automation Engine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sends alert to 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Notification System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2838450" y="5334000"/>
            <a:ext cx="65151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838450" y="4619625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3314700" y="5476875"/>
            <a:ext cx="584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Notification System</a:t>
            </a: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informs 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Admin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 that recovery is completed.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2838450" y="5334000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981325" y="2033587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981325" y="2747962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2981325" y="3462337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2981325" y="4176712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2981325" y="4891087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2981325" y="5605462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Core Sequence Diagram (Failover Example)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1745932" y="3643312"/>
            <a:ext cx="108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66775" y="4271962"/>
            <a:ext cx="28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Web Dashboard (React / Flask) for administrative control.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270896" y="3643312"/>
            <a:ext cx="1650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Orchestration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4676775" y="4271962"/>
            <a:ext cx="28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Recovery Orchestrator handles runbooks and state machines.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820864" y="3643312"/>
            <a:ext cx="217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Monitoring &amp; Notif.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486775" y="4271962"/>
            <a:ext cx="28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Dedicated Monitoring and Notification services for real-time awareness.</a:t>
            </a:r>
            <a:endParaRPr/>
          </a:p>
        </p:txBody>
      </p:sp>
      <p:pic>
        <p:nvPicPr>
          <p:cNvPr descr="image.png" id="255" name="Google Shape;25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29479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479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9479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High-Level Architecture: Backend Services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921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3938" y="131921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1600" y="1291825"/>
            <a:ext cx="3429000" cy="259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1595925" y="2053643"/>
            <a:ext cx="138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Data Stores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66775" y="2519303"/>
            <a:ext cx="28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PostgreSQL for configurations. S3/Blob Storage for snapshots.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928297" y="2025587"/>
            <a:ext cx="20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Queues &amp; Cache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4529138" y="2521562"/>
            <a:ext cx="28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RabbitMQ / Azure Queue for async tasks. Redis to store rapid recovery state.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831000" y="2025575"/>
            <a:ext cx="199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Content Delivery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8406800" y="2519312"/>
            <a:ext cx="283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Cloudflare (or similar CDN) used for efficient distribution of static dashboard content.</a:t>
            </a:r>
            <a:endParaRPr/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1469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91275" y="14698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14698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High-Level Architecture: Data Layer</a:t>
            </a:r>
            <a:endParaRPr/>
          </a:p>
        </p:txBody>
      </p:sp>
      <p:pic>
        <p:nvPicPr>
          <p:cNvPr id="277" name="Google Shape;27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99725" y="4171025"/>
            <a:ext cx="9441399" cy="23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2650"/>
            <a:ext cx="4832750" cy="297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500" y="2182650"/>
            <a:ext cx="5740001" cy="29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860738" y="2548825"/>
            <a:ext cx="425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Key Metrics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118621" y="2467225"/>
            <a:ext cx="520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Back-of-the-Envelope Sizing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081088" y="3335525"/>
            <a:ext cx="381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RTO (Recovery Time Objective) :Target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&lt; 5 min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081100" y="3987101"/>
            <a:ext cx="391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RPO (Recovery Point Objective) : Target 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&lt; 1 min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data loss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514058" y="3185225"/>
            <a:ext cx="47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Monitoring Load : 100 systems × 10 checks/min = 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1000 API calls/min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514058" y="3691598"/>
            <a:ext cx="4720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Storage Load : 1 GB avg backup/system/day → 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100 GB/day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total storage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742800" y="33051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09625" y="398710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296021" y="318522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6296021" y="376493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Capacity Planning &amp; Sizing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88" y="2008975"/>
            <a:ext cx="5598475" cy="341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9675" y="2008975"/>
            <a:ext cx="4791075" cy="34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827475" y="2183950"/>
            <a:ext cx="52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API Specification (Recovery Endpoint)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851775" y="2726250"/>
            <a:ext cx="5037900" cy="2358000"/>
          </a:xfrm>
          <a:prstGeom prst="roundRect">
            <a:avLst>
              <a:gd fmla="val 104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1057275" y="2877000"/>
            <a:ext cx="4791000" cy="20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POST /api/v1/recover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BODY: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  "region": "east-us",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  "system_id": "srv-101"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RESPONSE: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  "status": "recovered",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  "time": "2025-10-30T12:00:00Z"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}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7219963" y="2145475"/>
            <a:ext cx="42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Core Data Model Schemas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7219950" y="2726250"/>
            <a:ext cx="4010100" cy="1896900"/>
          </a:xfrm>
          <a:prstGeom prst="roundRect">
            <a:avLst>
              <a:gd fmla="val 251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7415425" y="2863588"/>
            <a:ext cx="3814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System(system_id, name, region, status)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Backup(backup_id, system_id, timestamp, storage_path)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RecoveryLog(log_id, system_id, event, timestamp)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User(user_id, role, email)</a:t>
            </a:r>
            <a:endParaRPr sz="1600"/>
          </a:p>
        </p:txBody>
      </p:sp>
      <p:sp>
        <p:nvSpPr>
          <p:cNvPr id="309" name="Google Shape;309;p24"/>
          <p:cNvSpPr txBox="1"/>
          <p:nvPr/>
        </p:nvSpPr>
        <p:spPr>
          <a:xfrm>
            <a:off x="295275" y="746976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API Specification &amp; Data Model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/>
          <p:nvPr/>
        </p:nvSpPr>
        <p:spPr>
          <a:xfrm>
            <a:off x="1490662" y="2476500"/>
            <a:ext cx="921067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966912" y="2619375"/>
            <a:ext cx="854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Strong Consistency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Required for recovery status and backup confirmations (critical operations).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1490662" y="3190875"/>
            <a:ext cx="921067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1490662" y="2476500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1966912" y="3333750"/>
            <a:ext cx="854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Eventual Consistency :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Acceptable for reporting dashboards and non-critical data visualization.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1490662" y="3905250"/>
            <a:ext cx="921067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490662" y="3190875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1966899" y="4048125"/>
            <a:ext cx="921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Caching 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Redis cache is utilized for storing recently monitored system status for low-latency dashboard viewing.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1490662" y="4619625"/>
            <a:ext cx="921067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490662" y="3905250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1966912" y="4762500"/>
            <a:ext cx="854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ndexing 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 Mandatory indexing on key lookup fields: `system_id` and `timestamp`.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1490662" y="4619625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1747837" y="2576525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1747837" y="3323737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1747837" y="4005275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781128" y="4752500"/>
            <a:ext cx="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Consistency Choices &amp; Caching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/>
          <p:nvPr/>
        </p:nvSpPr>
        <p:spPr>
          <a:xfrm>
            <a:off x="1547812" y="2833687"/>
            <a:ext cx="909637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 txBox="1"/>
          <p:nvPr/>
        </p:nvSpPr>
        <p:spPr>
          <a:xfrm>
            <a:off x="2024062" y="2976562"/>
            <a:ext cx="842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Retries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3 attempts maximum with exponential backoff for external cloud API calls.</a:t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1547812" y="3548062"/>
            <a:ext cx="909637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1547812" y="2833687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1690677" y="3619500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2024062" y="3690937"/>
            <a:ext cx="842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Timeouts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:Critical cloud API calls are enforced with a strict 5-second timeout.</a:t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1547800" y="4262420"/>
            <a:ext cx="9165000" cy="7542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1547812" y="3548062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2024062" y="4405312"/>
            <a:ext cx="842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Circuit Breaker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: Logic opens the circuit after 3 consecutive failures to prevent cascading downstream overload.</a:t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1547794" y="4262425"/>
            <a:ext cx="47700" cy="7263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1752600" y="293368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1752600" y="436243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</a:t>
            </a:r>
            <a:r>
              <a:rPr lang="en-US" sz="30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Resilience</a:t>
            </a: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Mechanisms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25" y="2505075"/>
            <a:ext cx="55054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9875" y="2505075"/>
            <a:ext cx="49339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7"/>
          <p:cNvSpPr txBox="1"/>
          <p:nvPr/>
        </p:nvSpPr>
        <p:spPr>
          <a:xfrm>
            <a:off x="910600" y="2673350"/>
            <a:ext cx="49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User-Based Limits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6995500" y="2634875"/>
            <a:ext cx="43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System-Wide Limits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1028700" y="3429000"/>
            <a:ext cx="448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100 monitoring requests/min per individual user (Admin/Developer).</a:t>
            </a:r>
            <a:endParaRPr sz="1800"/>
          </a:p>
        </p:txBody>
      </p:sp>
      <p:sp>
        <p:nvSpPr>
          <p:cNvPr id="360" name="Google Shape;360;p27"/>
          <p:cNvSpPr txBox="1"/>
          <p:nvPr/>
        </p:nvSpPr>
        <p:spPr>
          <a:xfrm>
            <a:off x="7129463" y="3399513"/>
            <a:ext cx="391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5000 API calls/min maximum system-wide throughput limit.</a:t>
            </a:r>
            <a:endParaRPr sz="1800"/>
          </a:p>
        </p:txBody>
      </p:sp>
      <p:sp>
        <p:nvSpPr>
          <p:cNvPr id="361" name="Google Shape;361;p27"/>
          <p:cNvSpPr txBox="1"/>
          <p:nvPr/>
        </p:nvSpPr>
        <p:spPr>
          <a:xfrm>
            <a:off x="758200" y="3429000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6757400" y="33975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Rate Limiting Policy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633662"/>
            <a:ext cx="3429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8"/>
          <p:cNvSpPr txBox="1"/>
          <p:nvPr/>
        </p:nvSpPr>
        <p:spPr>
          <a:xfrm>
            <a:off x="2015966" y="3643312"/>
            <a:ext cx="5400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Logs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866775" y="4271962"/>
            <a:ext cx="28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Stored in </a:t>
            </a:r>
            <a:r>
              <a:rPr b="1"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ELK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(Elastic Stack) for centralized search and analysis.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5665946" y="3643312"/>
            <a:ext cx="8601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Metrics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4676775" y="4271962"/>
            <a:ext cx="28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Prometheus + Grafana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for monitoring RTO, RPO, CPU, and backup frequency.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9505950" y="3643312"/>
            <a:ext cx="8001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Traces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8486775" y="4271962"/>
            <a:ext cx="28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Open Telemetry</a:t>
            </a:r>
            <a:r>
              <a:rPr lang="en-US" sz="12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is used for distributed tracing across all microservices.</a:t>
            </a:r>
            <a:endParaRPr/>
          </a:p>
        </p:txBody>
      </p:sp>
      <p:pic>
        <p:nvPicPr>
          <p:cNvPr descr="image.png" id="378" name="Google Shape;37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9479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9479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Observability Stack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2388" y="2049350"/>
            <a:ext cx="3629025" cy="353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6450" y="2049350"/>
            <a:ext cx="4524375" cy="353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9"/>
          <p:cNvSpPr txBox="1"/>
          <p:nvPr/>
        </p:nvSpPr>
        <p:spPr>
          <a:xfrm>
            <a:off x="2019288" y="2314575"/>
            <a:ext cx="299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Routine Maintenance</a:t>
            </a:r>
            <a:endParaRPr/>
          </a:p>
        </p:txBody>
      </p:sp>
      <p:sp>
        <p:nvSpPr>
          <p:cNvPr id="389" name="Google Shape;389;p29"/>
          <p:cNvSpPr txBox="1"/>
          <p:nvPr/>
        </p:nvSpPr>
        <p:spPr>
          <a:xfrm>
            <a:off x="6005475" y="2258100"/>
            <a:ext cx="401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Disaster Recovery Drills</a:t>
            </a:r>
            <a:endParaRPr/>
          </a:p>
        </p:txBody>
      </p:sp>
      <p:sp>
        <p:nvSpPr>
          <p:cNvPr id="390" name="Google Shape;390;p29"/>
          <p:cNvSpPr txBox="1"/>
          <p:nvPr/>
        </p:nvSpPr>
        <p:spPr>
          <a:xfrm>
            <a:off x="2265175" y="3087875"/>
            <a:ext cx="270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Weekly backup integrity verification.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2265175" y="3722872"/>
            <a:ext cx="308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Automated patch deployment schedule.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6396050" y="3086100"/>
            <a:ext cx="401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Monthly automated failover drills (testing RTO/RPO).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6391275" y="3696299"/>
            <a:ext cx="36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Quarterly comprehensive scalability tests.</a:t>
            </a:r>
            <a:endParaRPr/>
          </a:p>
        </p:txBody>
      </p:sp>
      <p:sp>
        <p:nvSpPr>
          <p:cNvPr id="394" name="Google Shape;394;p29"/>
          <p:cNvSpPr txBox="1"/>
          <p:nvPr/>
        </p:nvSpPr>
        <p:spPr>
          <a:xfrm>
            <a:off x="2019300" y="3087875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2019300" y="3722848"/>
            <a:ext cx="15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6172200" y="3086100"/>
            <a:ext cx="25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 flipH="1">
            <a:off x="6172325" y="3694351"/>
            <a:ext cx="5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Engineering: Maintenance &amp; DR Drill Plan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7975"/>
            <a:ext cx="24765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3014662"/>
            <a:ext cx="24765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14662"/>
            <a:ext cx="24765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0" y="2847975"/>
            <a:ext cx="24765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0"/>
          <p:cNvSpPr txBox="1"/>
          <p:nvPr/>
        </p:nvSpPr>
        <p:spPr>
          <a:xfrm>
            <a:off x="819626" y="3857625"/>
            <a:ext cx="198024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Availability: ≥ 99.99%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3707130" y="4024312"/>
            <a:ext cx="19202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RTO: &lt; 5 Minutes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6654641" y="4024312"/>
            <a:ext cx="17402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RPO: &lt; 1 Minute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9392126" y="3857625"/>
            <a:ext cx="198024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Latency: &lt; 200 ms</a:t>
            </a:r>
            <a:endParaRPr/>
          </a:p>
        </p:txBody>
      </p:sp>
      <p:pic>
        <p:nvPicPr>
          <p:cNvPr descr="image.png" id="412" name="Google Shape;41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81150" y="31623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38650" y="33289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24725" y="33289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82225" y="31623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Quality Targets: Service Level Objectives (SLOs)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1"/>
          <p:cNvSpPr/>
          <p:nvPr/>
        </p:nvSpPr>
        <p:spPr>
          <a:xfrm>
            <a:off x="1562100" y="2833687"/>
            <a:ext cx="9067800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 txBox="1"/>
          <p:nvPr/>
        </p:nvSpPr>
        <p:spPr>
          <a:xfrm>
            <a:off x="2038350" y="2976562"/>
            <a:ext cx="8401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**Horizontal Scaling:** Utilizing Kubernetes or Azure AKS for auto-scaling stateless services.</a:t>
            </a: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1562100" y="3548062"/>
            <a:ext cx="9067800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1562100" y="2833687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1"/>
          <p:cNvSpPr txBox="1"/>
          <p:nvPr/>
        </p:nvSpPr>
        <p:spPr>
          <a:xfrm>
            <a:off x="2038350" y="3690937"/>
            <a:ext cx="8401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**Partitioning:** Backup data will be partitioned (sharded) by region or customer identifier.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>
            <a:off x="1562100" y="4262437"/>
            <a:ext cx="9067800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1562100" y="3548062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1"/>
          <p:cNvSpPr txBox="1"/>
          <p:nvPr/>
        </p:nvSpPr>
        <p:spPr>
          <a:xfrm>
            <a:off x="2038350" y="4405312"/>
            <a:ext cx="8401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**CDN:** Leveraging a Content Delivery Network (Cloudflare) for highly performant delivery of dashboard assets.</a:t>
            </a:r>
            <a:endParaRPr/>
          </a:p>
        </p:txBody>
      </p:sp>
      <p:sp>
        <p:nvSpPr>
          <p:cNvPr id="430" name="Google Shape;430;p31"/>
          <p:cNvSpPr/>
          <p:nvPr/>
        </p:nvSpPr>
        <p:spPr>
          <a:xfrm>
            <a:off x="1562100" y="4262437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1704975" y="3105150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1704975" y="3819525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1704975" y="4533900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Scalability Plan</a:t>
            </a:r>
            <a:endParaRPr/>
          </a:p>
        </p:txBody>
      </p:sp>
      <p:pic>
        <p:nvPicPr>
          <p:cNvPr descr="image.png" id="435" name="Google Shape;4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1"/>
          <p:cNvSpPr/>
          <p:nvPr/>
        </p:nvSpPr>
        <p:spPr>
          <a:xfrm>
            <a:off x="1957387" y="2833687"/>
            <a:ext cx="8277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 txBox="1"/>
          <p:nvPr/>
        </p:nvSpPr>
        <p:spPr>
          <a:xfrm>
            <a:off x="2433637" y="2976562"/>
            <a:ext cx="761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**Multi-region Backup:** Benefit (Higher reliability) vs. Drawback (Higher cost).</a:t>
            </a:r>
            <a:endParaRPr/>
          </a:p>
        </p:txBody>
      </p:sp>
      <p:sp>
        <p:nvSpPr>
          <p:cNvPr id="438" name="Google Shape;438;p31"/>
          <p:cNvSpPr/>
          <p:nvPr/>
        </p:nvSpPr>
        <p:spPr>
          <a:xfrm>
            <a:off x="1957387" y="3548062"/>
            <a:ext cx="8277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1957387" y="2833687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2433637" y="3690937"/>
            <a:ext cx="7610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**Eventual Consistency:** Benefit (Better scalability) vs. Drawback (Possible stale data on dashboards).</a:t>
            </a:r>
            <a:endParaRPr/>
          </a:p>
        </p:txBody>
      </p:sp>
      <p:sp>
        <p:nvSpPr>
          <p:cNvPr id="441" name="Google Shape;441;p31"/>
          <p:cNvSpPr/>
          <p:nvPr/>
        </p:nvSpPr>
        <p:spPr>
          <a:xfrm>
            <a:off x="1957387" y="4262437"/>
            <a:ext cx="8277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1957387" y="3548062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1"/>
          <p:cNvSpPr txBox="1"/>
          <p:nvPr/>
        </p:nvSpPr>
        <p:spPr>
          <a:xfrm>
            <a:off x="2433637" y="4405312"/>
            <a:ext cx="761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**Serverless Recovery:** Benefit (Fast auto-scaling) vs. Drawback (Cold start delays).</a:t>
            </a: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1957387" y="4262437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2100262" y="3105150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46" name="Google Shape;446;p31"/>
          <p:cNvSpPr txBox="1"/>
          <p:nvPr/>
        </p:nvSpPr>
        <p:spPr>
          <a:xfrm>
            <a:off x="2100262" y="3819525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2100262" y="4533900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48" name="Google Shape;448;p3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Trade-Off Discussion</a:t>
            </a:r>
            <a:endParaRPr/>
          </a:p>
        </p:txBody>
      </p:sp>
      <p:pic>
        <p:nvPicPr>
          <p:cNvPr descr="image.png" id="449" name="Google Shape;44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1"/>
          <p:cNvSpPr/>
          <p:nvPr/>
        </p:nvSpPr>
        <p:spPr>
          <a:xfrm>
            <a:off x="1547812" y="2833687"/>
            <a:ext cx="9096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2024062" y="2976562"/>
            <a:ext cx="842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Horizontal Scaling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Utilizing Kubernetes or Azure AKS for auto-scaling stateless services.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1547812" y="3548062"/>
            <a:ext cx="9096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1547812" y="2833687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1752600" y="3619500"/>
            <a:ext cx="27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55" name="Google Shape;455;p31"/>
          <p:cNvSpPr txBox="1"/>
          <p:nvPr/>
        </p:nvSpPr>
        <p:spPr>
          <a:xfrm>
            <a:off x="2024062" y="3690937"/>
            <a:ext cx="8429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Partitioning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 Backup data will be partitioned (sharded) by region or customer identifier.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31"/>
          <p:cNvSpPr/>
          <p:nvPr/>
        </p:nvSpPr>
        <p:spPr>
          <a:xfrm>
            <a:off x="1547800" y="4262424"/>
            <a:ext cx="9165000" cy="6144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1547812" y="3548062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2024049" y="4405300"/>
            <a:ext cx="9067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CDN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Leveraging a Content Delivery Network (Cloudflare) for highly performant delivery of dashboard assets.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" name="Google Shape;459;p31"/>
          <p:cNvSpPr/>
          <p:nvPr/>
        </p:nvSpPr>
        <p:spPr>
          <a:xfrm>
            <a:off x="1547948" y="4262425"/>
            <a:ext cx="47700" cy="6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1752600" y="293368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61" name="Google Shape;461;p31"/>
          <p:cNvSpPr txBox="1"/>
          <p:nvPr/>
        </p:nvSpPr>
        <p:spPr>
          <a:xfrm>
            <a:off x="1752600" y="436243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62" name="Google Shape;462;p31"/>
          <p:cNvSpPr txBox="1"/>
          <p:nvPr/>
        </p:nvSpPr>
        <p:spPr>
          <a:xfrm>
            <a:off x="571500" y="571500"/>
            <a:ext cx="11601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Scalability Plan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7" name="Google Shape;4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2"/>
          <p:cNvSpPr/>
          <p:nvPr/>
        </p:nvSpPr>
        <p:spPr>
          <a:xfrm>
            <a:off x="1957387" y="2833687"/>
            <a:ext cx="82772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2433637" y="2976562"/>
            <a:ext cx="7610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**Multi-region Backup:** Benefit (Higher reliability) vs. Drawback (Higher cost).</a:t>
            </a:r>
            <a:endParaRPr/>
          </a:p>
        </p:txBody>
      </p:sp>
      <p:sp>
        <p:nvSpPr>
          <p:cNvPr id="470" name="Google Shape;470;p32"/>
          <p:cNvSpPr/>
          <p:nvPr/>
        </p:nvSpPr>
        <p:spPr>
          <a:xfrm>
            <a:off x="1957387" y="3548062"/>
            <a:ext cx="82772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1957387" y="2833687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 txBox="1"/>
          <p:nvPr/>
        </p:nvSpPr>
        <p:spPr>
          <a:xfrm>
            <a:off x="2433637" y="3690937"/>
            <a:ext cx="7610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**Eventual Consistency:** Benefit (Better scalability) vs. Drawback (Possible stale data on dashboards).</a:t>
            </a:r>
            <a:endParaRPr/>
          </a:p>
        </p:txBody>
      </p:sp>
      <p:sp>
        <p:nvSpPr>
          <p:cNvPr id="473" name="Google Shape;473;p32"/>
          <p:cNvSpPr/>
          <p:nvPr/>
        </p:nvSpPr>
        <p:spPr>
          <a:xfrm>
            <a:off x="1957387" y="4262437"/>
            <a:ext cx="8277225" cy="542925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1957387" y="3548062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2"/>
          <p:cNvSpPr txBox="1"/>
          <p:nvPr/>
        </p:nvSpPr>
        <p:spPr>
          <a:xfrm>
            <a:off x="2433637" y="4405312"/>
            <a:ext cx="7610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**Serverless Recovery:** Benefit (Fast auto-scaling) vs. Drawback (Cold start delays).</a:t>
            </a:r>
            <a:endParaRPr/>
          </a:p>
        </p:txBody>
      </p:sp>
      <p:sp>
        <p:nvSpPr>
          <p:cNvPr id="476" name="Google Shape;476;p32"/>
          <p:cNvSpPr/>
          <p:nvPr/>
        </p:nvSpPr>
        <p:spPr>
          <a:xfrm>
            <a:off x="1957387" y="4262437"/>
            <a:ext cx="47625" cy="5429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2"/>
          <p:cNvSpPr txBox="1"/>
          <p:nvPr/>
        </p:nvSpPr>
        <p:spPr>
          <a:xfrm>
            <a:off x="2100262" y="3105150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78" name="Google Shape;478;p32"/>
          <p:cNvSpPr txBox="1"/>
          <p:nvPr/>
        </p:nvSpPr>
        <p:spPr>
          <a:xfrm>
            <a:off x="2100262" y="3819525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79" name="Google Shape;479;p32"/>
          <p:cNvSpPr txBox="1"/>
          <p:nvPr/>
        </p:nvSpPr>
        <p:spPr>
          <a:xfrm>
            <a:off x="2100262" y="4533900"/>
            <a:ext cx="1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Trade-Off Discussion</a:t>
            </a:r>
            <a:endParaRPr/>
          </a:p>
        </p:txBody>
      </p:sp>
      <p:pic>
        <p:nvPicPr>
          <p:cNvPr descr="image.png" id="481" name="Google Shape;4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2"/>
          <p:cNvSpPr/>
          <p:nvPr/>
        </p:nvSpPr>
        <p:spPr>
          <a:xfrm>
            <a:off x="1547812" y="2833687"/>
            <a:ext cx="9096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2"/>
          <p:cNvSpPr txBox="1"/>
          <p:nvPr/>
        </p:nvSpPr>
        <p:spPr>
          <a:xfrm>
            <a:off x="2024062" y="2976562"/>
            <a:ext cx="8429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Multi-region Backup :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Benefit (Higher reliability) vs. Drawback (Higher cost).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1547812" y="3548062"/>
            <a:ext cx="9096300" cy="5430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1547812" y="2833687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1752600" y="3619500"/>
            <a:ext cx="27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87" name="Google Shape;487;p32"/>
          <p:cNvSpPr txBox="1"/>
          <p:nvPr/>
        </p:nvSpPr>
        <p:spPr>
          <a:xfrm>
            <a:off x="2024062" y="3690937"/>
            <a:ext cx="8429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Eventual Consistency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Benefit (Better scalability) vs. Drawback (Possible stale data on dashboards).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1547800" y="4262424"/>
            <a:ext cx="9165000" cy="614400"/>
          </a:xfrm>
          <a:prstGeom prst="roundRect">
            <a:avLst>
              <a:gd fmla="val 1403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1547812" y="3548062"/>
            <a:ext cx="47700" cy="5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 txBox="1"/>
          <p:nvPr/>
        </p:nvSpPr>
        <p:spPr>
          <a:xfrm>
            <a:off x="2024062" y="4405312"/>
            <a:ext cx="8429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Serverless Recovery</a:t>
            </a:r>
            <a:r>
              <a:rPr lang="en-US" sz="135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: Benefit (Fast auto-scaling) vs. Drawback (Cold start delays).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2E8F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1547948" y="4262425"/>
            <a:ext cx="47700" cy="614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2"/>
          <p:cNvSpPr txBox="1"/>
          <p:nvPr/>
        </p:nvSpPr>
        <p:spPr>
          <a:xfrm>
            <a:off x="1752600" y="293368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93" name="Google Shape;493;p32"/>
          <p:cNvSpPr txBox="1"/>
          <p:nvPr/>
        </p:nvSpPr>
        <p:spPr>
          <a:xfrm>
            <a:off x="1752600" y="436243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494" name="Google Shape;494;p32"/>
          <p:cNvSpPr txBox="1"/>
          <p:nvPr/>
        </p:nvSpPr>
        <p:spPr>
          <a:xfrm>
            <a:off x="571500" y="5715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Trade-Off Discussion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9" name="Google Shape;4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3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501" name="Google Shape;501;p33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